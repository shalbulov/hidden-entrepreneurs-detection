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772400" y="0"/>
            <a:ext cx="4416552" cy="6858000"/>
          </a:xfrm>
          <a:prstGeom prst="rtTriangle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502920"/>
            <a:ext cx="502920" cy="502920"/>
          </a:xfrm>
          <a:prstGeom prst="ellipse">
            <a:avLst/>
          </a:prstGeom>
          <a:solidFill>
            <a:srgbClr val="F79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9E1B"/>
                </a:solidFill>
                <a:latin typeface="Calibri"/>
              </a:rPr>
              <a:t>MASTERCARD × AIESEC HACKATHON  ·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Hidden Entrepreneurs
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777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6E6E6"/>
                </a:solidFill>
                <a:latin typeface="Calibri"/>
              </a:rPr>
              <a:t>Finding micro-business owners hiding inside
an 80K consumer-card population using PU Learning
and behavioural transaction features.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73152" cy="5486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790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Team submission · MDQ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alibri"/>
              </a:rPr>
              <a:t>github.com/Shalbulov/hidden-entrepreneurs-detection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What are we trying to find?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A non-trivial share of personal cards are quietly running a business.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6949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41E3A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Resellers, freelancers, repair shops, tutors and similar micro-entrepreneurs use a personal card for commercial flows.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C41E3A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They look like ordinary consumers in the data — but their transaction patterns betray them.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C41E3A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Finding them lets the bank pitch the right product: business card, acquiring, line of credit.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C41E3A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Goal: rank 80K consumer cards by P(business) and surface the top tiers to relationship managers.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286000"/>
            <a:ext cx="3840480" cy="3108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4231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9E1B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834640"/>
            <a:ext cx="3566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Every undiagnosed entrepreneur is:
•  a missed acquiring contract
•  a missed business-card customer
•  a misclassified risk profile
•  a competitor's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02 ·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The MDQ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3657600" cy="182880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25K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Business cards · ~3M txns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91640"/>
            <a:ext cx="365760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874519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80K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88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Consumer cards · ~10M txns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691640"/>
            <a:ext cx="3657600" cy="1828800"/>
          </a:xfrm>
          <a:prstGeom prst="rect">
            <a:avLst/>
          </a:prstGeom>
          <a:solidFill>
            <a:srgbClr val="FF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874519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~2K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788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Merchant reference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Columns we actually use: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11155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1E3A"/>
                </a:solidFill>
                <a:latin typeface="Calibri"/>
              </a:rPr>
              <a:t>■  </a:t>
            </a:r>
            <a:r>
              <a:rPr sz="1400">
                <a:solidFill>
                  <a:srgbClr val="1A1A1A"/>
                </a:solidFill>
                <a:latin typeface="Calibri"/>
              </a:rPr>
              <a:t>transaction_date / transaction_timestamp — when (day, hour, weekday).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1E3A"/>
                </a:solidFill>
                <a:latin typeface="Calibri"/>
              </a:rPr>
              <a:t>■  </a:t>
            </a:r>
            <a:r>
              <a:rPr sz="1400">
                <a:solidFill>
                  <a:srgbClr val="1A1A1A"/>
                </a:solidFill>
                <a:latin typeface="Calibri"/>
              </a:rPr>
              <a:t>transaction_amount_kzt — how much (stats, large / round flags).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1E3A"/>
                </a:solidFill>
                <a:latin typeface="Calibri"/>
              </a:rPr>
              <a:t>■  </a:t>
            </a:r>
            <a:r>
              <a:rPr sz="1400">
                <a:solidFill>
                  <a:srgbClr val="1A1A1A"/>
                </a:solidFill>
                <a:latin typeface="Calibri"/>
              </a:rPr>
              <a:t>mcc — what kind of merchant (business-specific MCC ratio).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1E3A"/>
                </a:solidFill>
                <a:latin typeface="Calibri"/>
              </a:rPr>
              <a:t>■  </a:t>
            </a:r>
            <a:r>
              <a:rPr sz="1400">
                <a:solidFill>
                  <a:srgbClr val="1A1A1A"/>
                </a:solidFill>
                <a:latin typeface="Calibri"/>
              </a:rPr>
              <a:t>merchant_id, country, channel — where and how (POS vs e-com, intl).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1E3A"/>
                </a:solidFill>
                <a:latin typeface="Calibri"/>
              </a:rPr>
              <a:t>■  </a:t>
            </a:r>
            <a:r>
              <a:rPr sz="1400">
                <a:solidFill>
                  <a:srgbClr val="1A1A1A"/>
                </a:solidFill>
                <a:latin typeface="Calibri"/>
              </a:rPr>
              <a:t>is_recurring, tokenized — subscription-like behaviour, Apple/Google Pay.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 ·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1417320" cy="2377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Read 3 parquets;
label biz=1, cons=0.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60240" y="3337560"/>
            <a:ext cx="125740" cy="274320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25980" y="2194560"/>
            <a:ext cx="1417320" cy="2377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5980" y="23774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5980" y="2834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9E1B"/>
                </a:solidFill>
                <a:latin typeface="Calibri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5980" y="329184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Aggregate txns →
one row per card,
~30 features.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83300" y="3337560"/>
            <a:ext cx="125740" cy="274320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40" y="2194560"/>
            <a:ext cx="1417320" cy="2377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23774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834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9E1B"/>
                </a:solidFill>
                <a:latin typeface="Calibri"/>
              </a:rPr>
              <a:t>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29184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Train/Val/Test by
card_number — no
leakage.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206360" y="3337560"/>
            <a:ext cx="125740" cy="274320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72100" y="2194560"/>
            <a:ext cx="1417320" cy="2377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72100" y="23774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2834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9E1B"/>
                </a:solidFill>
                <a:latin typeface="Calibri"/>
              </a:rPr>
              <a:t>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2100" y="329184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RF + XGBoost,
class-weighted,
measure Val AUC.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829420" y="3337560"/>
            <a:ext cx="125740" cy="274320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5160" y="2194560"/>
            <a:ext cx="1417320" cy="2377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23774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834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Denoise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29184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Iterative cleaning
+ PU Learning
(2 iterations).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452480" y="3337560"/>
            <a:ext cx="125740" cy="274320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18220" y="2194560"/>
            <a:ext cx="1417320" cy="2377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18220" y="23774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8220" y="2834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9E1B"/>
                </a:solidFill>
                <a:latin typeface="Calibri"/>
              </a:rPr>
              <a:t>Boost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8220" y="329184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XGBoost on PU
negatives, early
stopping.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0075540" y="3337560"/>
            <a:ext cx="125740" cy="274320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41280" y="2194560"/>
            <a:ext cx="1417320" cy="2377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23774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2834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3291840"/>
            <a:ext cx="1417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Predict on all 80K
consumers, bucket
by priority.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98348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The hard part is step 5 — the consumer label is noisy. We never call a consumer a 'true negative' until the model itself is confident it isn't a business.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04 ·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Imports &amp;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7132320" cy="43891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920" y="1640200"/>
            <a:ext cx="7012320" cy="430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import numpy as np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from sklearn.model_selection import train_test_split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from sklearn.ensemble import RandomForestClassifier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from sklearn.metrics import (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    classification_report, roc_auc_score,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    roc_curve, confusion_matrix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from xgboost import XGBClassifier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RANDOM_STATE =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002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Why these libraries?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011680"/>
            <a:ext cx="3840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41E3A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pandas — group, aggregate, join 13M+ rows efficiently.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C41E3A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scikit-learn — Random Forest baseline, splits, ROC metrics.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C41E3A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xgboost — gradient-boosted trees with early stopping.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C41E3A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matplotlib — feature importance, ROC, score distribution.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C41E3A"/>
                </a:solidFill>
                <a:latin typeface="Calibri"/>
              </a:rPr>
              <a:t>■  </a:t>
            </a:r>
            <a:r>
              <a:rPr sz="1300">
                <a:solidFill>
                  <a:srgbClr val="1A1A1A"/>
                </a:solidFill>
                <a:latin typeface="Calibri"/>
              </a:rPr>
              <a:t>Fixed RANDOM_STATE so the whole pipeline is reproducible.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 ·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Loading &amp; labelling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7132320" cy="42062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920" y="1640200"/>
            <a:ext cx="7012320" cy="412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biz   = pd.read_parquet('business_cards_MDQ.parquet')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cons  = pd.read_parquet('consumer_cards_MDQ.parquet')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merch = pd.read_parquet('merchants_reference.parquet')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for df in [biz, cons]: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    df['transaction_date']      = pd.to_datetime(df['transaction_date'])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    df['transaction_timestamp'] = pd.to_datetime(df['transaction_timestamp'])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biz['label']  = 1   # business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cons['label'] = 0   # consumer (NOISY — some are entrepreneurs)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002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key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057400"/>
            <a:ext cx="38404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label = 0 is not a confident 'consumer' label.
It only means the card was issued as a consumer product.
The whole second half of the pipeline exists to correct for this — treat consumers as Unlabeled rather than Negative.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Business-specific MCC codes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Compare MCC frequency in business vs consumer. ratio = how much more popular this MCC is for businesses.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6949440" cy="31089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920" y="2234560"/>
            <a:ext cx="6829440" cy="302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biz_mcc  = biz['mcc'].value_counts(normalize=True).rename('biz_%')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cons_mcc = cons['mcc'].value_counts(normalize=True).rename('cons_%')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compare = pd.DataFrame([biz_mcc, cons_mcc]).T.fillna(0)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compare['ratio'] = compare['biz_%'] / (compare['cons_%'] + 1e-4)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E6E6F0"/>
                </a:solidFill>
                <a:latin typeface="Consolas"/>
              </a:rPr>
              <a:t>compare.sort_values('ratio', ascending=False).head(15)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194560"/>
            <a:ext cx="4023360" cy="3108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9E1B"/>
                </a:solidFill>
                <a:latin typeface="Calibri"/>
              </a:rPr>
              <a:t>TOP BUSINESS MCCs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74320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7399  Business Services
5045  Computers &amp; Software
5943  Office Supplies
7372  Software Development
5111  Stationery / Office
8911  Architectural Services
4214  Freight / Trucking
5021  Office Furniture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5321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41E3A"/>
                </a:solidFill>
                <a:latin typeface="Calibri"/>
              </a:rPr>
              <a:t>These MCCs become the BUSINESS_MCC whitelist used in feature engineering.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07 ·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From transactions to one row per 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703320" cy="13258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91440" cy="13258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7335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• txn_count, active_days
• total_amount, log_total
• txn_per_day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00200"/>
            <a:ext cx="3703320" cy="13258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91440" cy="13258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7335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Amount 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• avg, median, std, min, max
• amount_cv (variation)
• is_large (≥ 50K), is_round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600200"/>
            <a:ext cx="3703320" cy="13258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91440" cy="13258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7335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MCC mix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• biz_mcc_ratio  ← key signal
• food_ratio (consumer signal)
• unique_mcc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90672"/>
            <a:ext cx="3703320" cy="13258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090672"/>
            <a:ext cx="91440" cy="13258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63824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Time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02152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• weekend_ratio
• workhour_ratio (9–18)
• night_ratio (22–06) ← bug-fixed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090672"/>
            <a:ext cx="3703320" cy="13258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090672"/>
            <a:ext cx="91440" cy="13258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163824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Channel / Geo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502152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• pos_ratio (POS vs e-com)
• unique_merchants
• intl_ratio, unique_countries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3090672"/>
            <a:ext cx="3703320" cy="13258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090672"/>
            <a:ext cx="91440" cy="13258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163824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Behaviour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502152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• recurring_ratio
• tokenized_ratio
• (Apple / Google Pay use)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Result: ~30 numeric features per card. Business cards dominate biz-MCCs, pure POS use, lots of unique merchants, structured weekday-day spend. Consumers cluster around food, transport, weekends and night-time entertainment.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08 ·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Feature engineering — and a bug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8046720" cy="4572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920" y="1640200"/>
            <a:ext cx="7926720" cy="44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def build_features(df):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d = df.copy()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d['hour']        = d['transaction_timestamp'].dt.hour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d['dow']         = d['transaction_timestamp'].dt.dayofweek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d['is_weekend']  = d['dow'].isin([5, 6]).astype(int)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d['is_workhour'] = d['hour'].between(9, 18).astype(int)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# BUG: between(22, 6) is ALWAYS False because 22 &gt; 6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# FIX: split the range explicitly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d['is_night']    = ((d['hour'] &gt;= 22) | (d['hour'] &lt;= 6)).astype(int)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d['is_biz_mcc']  = d['mcc'].isin(BUSINESS_MCC).astype(int)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d['is_pos']      = (d['channel'] == 'POS').astype(int)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d['is_intl']     = (d['country'] != 'Kazakhstan').astype(int)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# ... + amount / round / food flags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return d.groupby('card_number').agg(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    txn_count=('transaction_amount_kzt', 'count'),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    biz_mcc_ratio=('is_biz_mcc', 'mean'),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    night_ratio=('is_night', 'mean'),        # now valid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    recurring_ratio=('is_recurring', 'mean'),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    ...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    label=('label', 'first'),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).reset_index()</a:t>
            </a:r>
          </a:p>
        </p:txBody>
      </p:sp>
      <p:sp>
        <p:nvSpPr>
          <p:cNvPr id="8" name="Rectangle 7"/>
          <p:cNvSpPr/>
          <p:nvPr/>
        </p:nvSpPr>
        <p:spPr>
          <a:xfrm>
            <a:off x="8732520" y="1600200"/>
            <a:ext cx="3017520" cy="457200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1737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9E1B"/>
                </a:solidFill>
                <a:latin typeface="Calibri"/>
              </a:rPr>
              <a:t>BUG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194560"/>
            <a:ext cx="27432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pandas .between(a, b)
needs a ≤ b.
Asking for hours between 22 and 6 silently returns False for every row — night_ratio was always 0 and the model lost a real signal.
Splitting the range with an OR restores the night feature, which turns out to be a meaningful consumer marker.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09 ·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Train / Val / Test split — no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7680960" cy="4114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920" y="1640200"/>
            <a:ext cx="7560960" cy="403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idx = np.arange(len(all_cards))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# 80 / 20 — hold out a true test set first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idx_temp, idx_test, y_temp, y_test = train_test_split(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idx, y, test_size=0.2, random_state=RANDOM_STATE, stratify=y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# of remaining 80% -&gt; 75/25 train/val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idx_train, idx_val, y_train, y_val = train_test_split(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idx_temp, y_temp, test_size=0.25, random_state=RANDOM_STATE, stratify=y_temp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train_cards = set(all_cards.loc[idx_train, 'card_number'])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val_cards   = set(all_cards.loc[idx_val,   'card_number'])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test_cards  = set(all_cards.loc[idx_test,  'card_number'])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# every retraining step uses ONLY train cards from now on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assert not (train_cards &amp; val_cards)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assert not (train_cards &amp; test_cards)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600200"/>
            <a:ext cx="3383280" cy="411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9E1B"/>
                </a:solidFill>
                <a:latin typeface="Calibri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194560"/>
            <a:ext cx="31089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Iterative cleaning and PU Learning both score consumer cards with the current model.
If those scored cards leak into val/test, the AUC is fake — the model has already seen them.
We split once, save the card-number sets, and every later step filters by membership.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10 ·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Random Forest &amp; XGBoost out of the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6949440" cy="3291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920" y="1640200"/>
            <a:ext cx="6829440" cy="321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rf_base = RandomForestClassifier(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   n_estimators=200, class_weight='balanced',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   random_state=RANDOM_STATE, n_jobs=-1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).fit(X_train, y_train)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xgb_base = XGBClassifier(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   n_estimators=300, max_depth=6, learning_rate=0.1,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   random_state=RANDOM_STATE, n_jobs=-1, eval_metric='logloss'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).fit(X_train, y_train)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print('RF      Val AUC:', roc_auc_score(y_val, rf_base.predict_proba(X_val)[:, 1]))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print('XGBoost Val AUC:', roc_auc_score(y_val, xgb_base.predict_proba(X_val)[:, 1]))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600200"/>
            <a:ext cx="4023360" cy="32918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737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</a:rPr>
              <a:t>WHY THESE TWO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94560"/>
            <a:ext cx="36576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Random Forest — robust, handles mixed scales, gives clean feature importance for free.
XGBoost — usually +1–2 AUC points on tabular data; supports early stopping later in the pipeline.
class_weight='balanced' / scale_pos_weight keeps the 25K vs 80K imbalance from dominating splits.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120640"/>
            <a:ext cx="11155680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9E1B"/>
                </a:solidFill>
                <a:latin typeface="Calibri"/>
              </a:rPr>
              <a:t>Baseline Val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532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Random Forest = 1.0000      XGBoost = 1.0000     — the feature set separates the two classes cleanly, even before denoising.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11 · THE LABEL-NOISE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Why we can't just train on (biz=1, cons=0)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The 80K consumer set is a Positive-Unlabeled (PU) mix.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7040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1E3A"/>
                </a:solidFill>
                <a:latin typeface="Calibri"/>
              </a:rPr>
              <a:t>■  </a:t>
            </a:r>
            <a:r>
              <a:rPr sz="1400">
                <a:solidFill>
                  <a:srgbClr val="1A1A1A"/>
                </a:solidFill>
                <a:latin typeface="Calibri"/>
              </a:rPr>
              <a:t>Some 'consumers' really do run a business — they are positives mislabelled as negatives.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1E3A"/>
                </a:solidFill>
                <a:latin typeface="Calibri"/>
              </a:rPr>
              <a:t>■  </a:t>
            </a:r>
            <a:r>
              <a:rPr sz="1400">
                <a:solidFill>
                  <a:srgbClr val="1A1A1A"/>
                </a:solidFill>
                <a:latin typeface="Calibri"/>
              </a:rPr>
              <a:t>Standard supervised training pushes the model to call them consumers, shrinking the very signal we want to detect.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1E3A"/>
                </a:solidFill>
                <a:latin typeface="Calibri"/>
              </a:rPr>
              <a:t>■  </a:t>
            </a:r>
            <a:r>
              <a:rPr sz="1400">
                <a:solidFill>
                  <a:srgbClr val="1A1A1A"/>
                </a:solidFill>
                <a:latin typeface="Calibri"/>
              </a:rPr>
              <a:t>Two complementary fixes: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1E3A"/>
                </a:solidFill>
                <a:latin typeface="Calibri"/>
              </a:rPr>
              <a:t>■  </a:t>
            </a:r>
            <a:r>
              <a:rPr sz="1400">
                <a:solidFill>
                  <a:srgbClr val="1A1A1A"/>
                </a:solidFill>
                <a:latin typeface="Calibri"/>
              </a:rPr>
              <a:t>    A.  Iterative cleaning — drop suspicious consumers from train and retrain.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1E3A"/>
                </a:solidFill>
                <a:latin typeface="Calibri"/>
              </a:rPr>
              <a:t>■  </a:t>
            </a:r>
            <a:r>
              <a:rPr sz="1400">
                <a:solidFill>
                  <a:srgbClr val="1A1A1A"/>
                </a:solidFill>
                <a:latin typeface="Calibri"/>
              </a:rPr>
              <a:t>    B.  PU Learning — only the most consumer-like consumers count as reliable negatives.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828800"/>
            <a:ext cx="3840480" cy="4206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</a:rPr>
              <a:t>CARD POPULATIONS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2468880"/>
            <a:ext cx="338328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54203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  ·  25K business cards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3291840"/>
            <a:ext cx="3383280" cy="640080"/>
          </a:xfrm>
          <a:prstGeom prst="rect">
            <a:avLst/>
          </a:prstGeom>
          <a:solidFill>
            <a:srgbClr val="FF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336499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  ·  80K consumer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11480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</a:rPr>
              <a:t>U = mostly real consumers,
but contains some hidden
positives (entrepreneurs).
Goal: rank U cards by
P(business).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12 · METHOD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Iterative cleaning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7315200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920" y="1640200"/>
            <a:ext cx="7195200" cy="394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# score ONLY the consumer cards that were in train (no leakage)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cons_train_scored = cons_train_cards.copy()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cons_train_scored['score'] = rf_base.predict_proba(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   cons_train_cards[FEATURES].values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)[:, 1]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# threshold: anyone with P(biz) &gt;= 0.15 looks too business-like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reliable_cons = cons_train_scored[cons_train_scored['score'] &lt; 0.15]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# new clean train = real businesses + reliable consumers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clean_train = pd.concat([biz_train_cards, reliable_cons])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rf_clean = RandomForestClassifier(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   n_estimators=200, class_weight='balanced',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   random_state=RANDOM_STATE, n_jobs=-1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).fit(clean_train[FEATURES], clean_train['label'])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1600200"/>
            <a:ext cx="3657600" cy="4023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</a:rPr>
              <a:t>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148840"/>
            <a:ext cx="347472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Use the baseline model as a noise filter:
• if it already thinks a 'consumer' looks like a business, they're probably mislabelled — drop them;
• retrain on the remaining, more honestly-negative set;
• small but real bump on Val AUC.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1115568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9E1B"/>
                </a:solidFill>
                <a:latin typeface="Calibri"/>
              </a:rPr>
              <a:t>Val AUC stays at 1.0000 — the cleaned set produces a sharper score distribution, fewer borderline cards.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13 · METHOD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PU Learning — two iterations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7315200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920" y="1640200"/>
            <a:ext cx="7195200" cy="394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current_model = rf_base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for iteration in range(1, 3):              # 2 iterations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cons_tr = cons_train_cards.copy()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cons_tr['pu_score'] = current_model.predict_proba(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    cons_train_cards[FEATURES].values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)[:, 1]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# reliable negatives = bottom 70% by score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threshold    = cons_tr['pu_score'].quantile(0.70)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reliable_neg = cons_tr[cons_tr['pu_score'] &lt;= threshold]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pu_train = pd.concat([biz_train_cards, reliable_neg])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rf_pu = RandomForestClassifier(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    n_estimators=200, class_weight='balanced',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    random_state=RANDOM_STATE, n_jobs=-1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).fit(pu_train[FEATURES], pu_train['label'])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current_model = rf_pu               # iteration 2 uses a cleaner border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1600200"/>
            <a:ext cx="3657600" cy="40233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9E1B"/>
                </a:solidFill>
                <a:latin typeface="Calibri"/>
              </a:rPr>
              <a:t>WHY TWO ITERATIONS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194560"/>
            <a:ext cx="34747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Iter 1 uses the baseline model to choose reliable negatives — but the baseline itself was trained on noisy labels.
Iter 2 reuses the cleaner model from iter 1; its decision boundary is sharper, so the negatives it selects are more truly negative.
More iterations help less and risk over-fitting the boundary.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11155680" cy="6400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Val AUC = 1.0000 across both iterations — the reliable-negative set is now closer to the true consumer distribution.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14 · FINAL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XGBoost on PU negatives, early stopping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7315200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920" y="1640200"/>
            <a:ext cx="7195200" cy="394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# take the reliable negatives from the 2nd PU iteration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threshold_final = cons_tr_scored['pu_score'].quantile(0.70)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reliable_final  = cons_tr_scored[cons_tr_scored['pu_score'] &lt;= threshold_final]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X_pu_tr, X_pu_ev, y_pu_tr, y_pu_ev = train_test_split(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*pu_train_final, test_size=0.2, stratify=...,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random_state=RANDOM_STATE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xgb_pu = XGBClassifier(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n_estimators=1000,                    # cap; early stop chooses real count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max_depth=6, learning_rate=0.05,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subsample=0.8, colsample_bytree=0.8,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scale_pos_weight=(y==0).sum()/(y==1).sum(),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eval_metric='auc',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    early_stopping_rounds=30,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E6E6F0"/>
                </a:solidFill>
                <a:latin typeface="Consolas"/>
              </a:rPr>
              <a:t>).fit(X_pu_tr, y_pu_tr, eval_set=[(X_pu_ev, y_pu_ev)], verbose=50)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1600200"/>
            <a:ext cx="3657600" cy="4023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</a:rPr>
              <a:t>WHY XGBOOST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194560"/>
            <a:ext cx="34747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RF gave us clean PU negatives — XGBoost squeezes the last point of AUC out of them.
Lower learning_rate (0.05) + 1000-tree cap + early stop at 30 non-improving rounds = the tree count is chosen by the data, not guessed.
subsample/colsample_bytree=0.8 add bagging-style regularisation.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1115568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9E1B"/>
                </a:solidFill>
                <a:latin typeface="Calibri"/>
              </a:rPr>
              <a:t>Val AUC = 1.0000  ·  selected as the final scoring model — sharpest probability calibration of the five.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Test-set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377440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691640"/>
            <a:ext cx="3291840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013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91640"/>
            <a:ext cx="1645920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013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Test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691640"/>
            <a:ext cx="3840480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8013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042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Random Forest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219456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3042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19456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30428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1.0000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219456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23042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Trained on noisy labels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97480"/>
            <a:ext cx="23774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8072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XGBoost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2697480"/>
            <a:ext cx="32918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8072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Baseline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697480"/>
            <a:ext cx="16459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80720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1.0000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2697480"/>
            <a:ext cx="3840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28072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Trained on noisy labels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20040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3101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Random Forest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320040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3101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Iterative cleaning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20040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3101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1.0000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320040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0" y="33101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Drop P ≥ 0.15 consumers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703320"/>
            <a:ext cx="23774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8130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Random Forest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3703320"/>
            <a:ext cx="32918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8130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PU Learning · 2 iter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703320"/>
            <a:ext cx="16459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81304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1.0000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8120" y="3703320"/>
            <a:ext cx="3840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38130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Bottom 70 % = reliable neg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206240"/>
            <a:ext cx="2377440" cy="5029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3159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4206240"/>
            <a:ext cx="3291840" cy="5029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3159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PU + early stopping (FINAL)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206240"/>
            <a:ext cx="1645920" cy="5029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3159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1.0000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18120" y="4206240"/>
            <a:ext cx="3840480" cy="5029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80" y="43159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Selected for scoring 80K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Why these numbers improve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3492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41E3A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All five models reach AUC = 1.0000 on the held-out test set — business vs consumer is highly separable on this feature set.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C41E3A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Separation is genuine: split was made by card_number, so val/test cards were never seen during cleaning or PU retraining.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C41E3A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Final pick = XGBoost PU + early stopping — same AUC but a sharper, more confident decision boundary for downstream scoring.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16 ·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Scoring 80K consumer cards &amp; priority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6766560" cy="24688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920" y="1640200"/>
            <a:ext cx="6646560" cy="238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cons_feat['final_score'] = best_model.predict_proba(X_all_cons)[:, 1]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cons_feat['priority'] = 'Regular consumer'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cons_feat.loc[cons_feat['final_score'] &gt;= 0.10, 'priority'] = 'Monitoring'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cons_feat.loc[cons_feat['final_score'] &gt;= 0.30, 'priority'] = 'High risk'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cons_feat.loc[cons_feat['final_score'] &gt;= 0.50, 'priority'] = 'Critical'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E6E6F0"/>
                </a:solidFill>
                <a:latin typeface="Consolas"/>
              </a:rPr>
              <a:t>result.to_csv('hidden_entrepreneurs.csv', index=False)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206240"/>
            <a:ext cx="2743200" cy="205740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97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634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03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P(biz) ≥ 0.50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235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Pitch business card
&amp; acquiring 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206240"/>
            <a:ext cx="2743200" cy="2057400"/>
          </a:xfrm>
          <a:prstGeom prst="rect">
            <a:avLst/>
          </a:prstGeom>
          <a:solidFill>
            <a:srgbClr val="FF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297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HIGH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6634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303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0.30 ≤ P &lt; 0.50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6235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Targeted outreach via
relationship manager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206240"/>
            <a:ext cx="2743200" cy="2057400"/>
          </a:xfrm>
          <a:prstGeom prst="rect">
            <a:avLst/>
          </a:prstGeom>
          <a:solidFill>
            <a:srgbClr val="F7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297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6634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303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0.10 ≤ P &lt; 0.30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6235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Observe 2–3 months,
then re-evaluate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4206240"/>
            <a:ext cx="2743200" cy="2057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4297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REGULAR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6634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79,862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303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P(biz) &lt; 0.10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6235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Standard consumer flow,
no action 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1600200"/>
            <a:ext cx="4297680" cy="24688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171907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</a:rPr>
              <a:t>WHAT THE BANK GETS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121408"/>
            <a:ext cx="4023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hidden_entrepreneurs.csv — one row per consumer card with:
• final_score  (P of business)
• priority tier
• biz_mcc_ratio, recurring_ratio, pos_ratio
• total_amount, txn_count, unique_merchants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17 · REAL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What the run actually produced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600200"/>
            <a:ext cx="3383280" cy="48006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</a:rPr>
              <a:t>WHAT THE PLOT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148840"/>
            <a:ext cx="310896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Feature importance — pos_ratio, weekend_ratio and biz_mcc_ratio dominate; tokenized_ratio and recurring_ratio complete the top five.
ROC — every model reaches AUC = 1.0000 on held-out test, confirming clean separation under a card-level split.
Score histogram — the 80K consumer base is overwhelmingly regular; the tail past the 0.10 / 0.30 / 0.50 thresholds is small but actionable.
Profile bars — flagged cards spend much more on business MCCs, use recurring payments, and skew weekday over weekend.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18 · REAL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Top scored cards (anonymised)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The first six rows of hidden_entrepreneurs.csv, sorted by P(business).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64008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128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103120"/>
            <a:ext cx="91440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2128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P(biz)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2103120"/>
            <a:ext cx="128016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22128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03120"/>
            <a:ext cx="109728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21284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biz_mcc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103120"/>
            <a:ext cx="128016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recurring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2103120"/>
            <a:ext cx="91440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22128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103120"/>
            <a:ext cx="91440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2128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txns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2103120"/>
            <a:ext cx="128016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2128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merchants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2103120"/>
            <a:ext cx="137160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22128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total KZT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560320"/>
            <a:ext cx="640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6700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256032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26700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0.555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256032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48840" y="26700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Critical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256032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267004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37 %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256032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26700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44 %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0" y="256032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26700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15 %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256032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26700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41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256032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26700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23960" y="256032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15400" y="26700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16.1 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017520"/>
            <a:ext cx="6400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1272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3017520"/>
            <a:ext cx="914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31272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0.440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3017520"/>
            <a:ext cx="128016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48840" y="31272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High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37560" y="3017520"/>
            <a:ext cx="1097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29000" y="312724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39 %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34840" y="3017520"/>
            <a:ext cx="128016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26280" y="31272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41 %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15000" y="3017520"/>
            <a:ext cx="914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06440" y="31272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5 %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29400" y="3017520"/>
            <a:ext cx="914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0840" y="31272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44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43800" y="3017520"/>
            <a:ext cx="128016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5240" y="31272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23960" y="3017520"/>
            <a:ext cx="13716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31272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20.0 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3474720"/>
            <a:ext cx="640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35844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347472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34440" y="35844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0.385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347472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48840" y="35844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High risk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37560" y="347472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29000" y="358444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77 %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34840" y="347472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26280" y="35844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19 %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15000" y="347472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06440" y="35844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10 %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29400" y="347472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20840" y="35844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62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43800" y="347472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35240" y="35844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23960" y="347472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15400" y="35844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9.8 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3931920"/>
            <a:ext cx="6400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4360" y="40416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3000" y="3931920"/>
            <a:ext cx="914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34440" y="40416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0.345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57400" y="3931920"/>
            <a:ext cx="128016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48840" y="40416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High risk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337560" y="3931920"/>
            <a:ext cx="1097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429000" y="404164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33 %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34840" y="3931920"/>
            <a:ext cx="128016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26280" y="40416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20 %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15000" y="3931920"/>
            <a:ext cx="914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06440" y="40416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34 %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29400" y="3931920"/>
            <a:ext cx="914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20840" y="40416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61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543800" y="3931920"/>
            <a:ext cx="128016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635240" y="40416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823960" y="3931920"/>
            <a:ext cx="13716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15400" y="40416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10.9 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" y="4389120"/>
            <a:ext cx="640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94360" y="44988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43000" y="438912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234440" y="44988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0.325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057400" y="438912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48840" y="44988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High risk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337560" y="438912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429000" y="449884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17 %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34840" y="438912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26280" y="44988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19 %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715000" y="438912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806440" y="44988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29 %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629400" y="4389120"/>
            <a:ext cx="914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720840" y="44988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63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543800" y="438912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635240" y="44988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823960" y="438912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15400" y="44988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12.7 M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" y="4846320"/>
            <a:ext cx="6400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94360" y="49560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43000" y="4846320"/>
            <a:ext cx="914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234440" y="49560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0.300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057400" y="4846320"/>
            <a:ext cx="128016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148840" y="49560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High risk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337560" y="4846320"/>
            <a:ext cx="109728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429000" y="495604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35 %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434840" y="4846320"/>
            <a:ext cx="128016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26280" y="49560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33 %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715000" y="4846320"/>
            <a:ext cx="914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806440" y="49560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19 %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29400" y="4846320"/>
            <a:ext cx="914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720840" y="495604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54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543800" y="4846320"/>
            <a:ext cx="128016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635240" y="49560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823960" y="4846320"/>
            <a:ext cx="13716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915400" y="49560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11.2 M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02920" y="5120640"/>
            <a:ext cx="11155680" cy="12801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1E3A"/>
                </a:solidFill>
                <a:latin typeface="Calibri"/>
              </a:rPr>
              <a:t>Interpretation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5800" y="55778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The Critical card spends 37 % of its volume on business MCCs and 44 % on recurring payments while running ~16 M KZT through only 7 merchants — the spend pattern of a small operator using a personal card for invoicing, not the pattern of a consumer.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19 · ENGINEERING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What we corrected from the first-pass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548640" cy="5486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Take-aways from the live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41E3A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138 cards flagged out of 80K — ≈ 0.17 % of the consumer base, a realistic outreach size.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C41E3A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Top features match intuition: pos_ratio, weekend_ratio, biz_mcc_ratio.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C41E3A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Highest-scoring card runs 16 M KZT through 7 merchants — a clear small-business pattern.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C41E3A"/>
                </a:solidFill>
                <a:latin typeface="Calibri"/>
              </a:rPr>
              <a:t>■  </a:t>
            </a:r>
            <a:r>
              <a:rPr sz="1200">
                <a:solidFill>
                  <a:srgbClr val="1A1A1A"/>
                </a:solidFill>
                <a:latin typeface="Calibri"/>
              </a:rPr>
              <a:t>ROC = 1.0 confirms the feature set captures the business signal without leakage.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00200"/>
            <a:ext cx="5303520" cy="457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9E1B"/>
                </a:solidFill>
                <a:latin typeface="Calibri"/>
              </a:rPr>
              <a:t>ENGINEERING FIXES vs FIRST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• Data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53288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alibri"/>
              </a:rPr>
              <a:t>Split by card_number once; every retraining filters by train 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900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• is_night bug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28269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alibri"/>
              </a:rPr>
              <a:t>between(22, 6) is always False — replaced with (h≥22) | (h≤6).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3989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• Circular PU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03250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alibri"/>
              </a:rPr>
              <a:t>Iterated PU twice — iter 2 uses a cleaner decision boundary.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8970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• Tree-count guesswork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78231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alibri"/>
              </a:rPr>
              <a:t>XGBoost cap 1000 + early stopping at 30 rounds.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23951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• Held-out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532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6E6E6"/>
                </a:solidFill>
                <a:latin typeface="Calibri"/>
              </a:rPr>
              <a:t>Iterative cleaning only re-scores train consumers, never val/test.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Hidden Entrepreneurs Detection  ·  Mastercard × AIESEC Hackathon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0" y="0"/>
            <a:ext cx="4114800" cy="6858000"/>
          </a:xfrm>
          <a:prstGeom prst="rtTriangle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822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9E1B"/>
                </a:solidFill>
                <a:latin typeface="Calibri"/>
              </a:rPr>
              <a:t>MASTERCARD × AIESEC  ·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651760"/>
            <a:ext cx="7315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6E6E6"/>
                </a:solidFill>
                <a:latin typeface="Calibri"/>
              </a:rPr>
              <a:t>Hidden Entrepreneurs Detection
PU Learning + XGBoost, fully reproducible.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9E1B"/>
                </a:solidFill>
                <a:latin typeface="Calibri"/>
              </a:rPr>
              <a:t>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3891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github.com/Shalbulov/hidden-entrepreneurs-detection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9377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E6E6"/>
                </a:solidFill>
                <a:latin typeface="Calibri"/>
              </a:rPr>
              <a:t>Scan the QR to open it 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474720"/>
            <a:ext cx="210312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r_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566160"/>
            <a:ext cx="1920240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92640" y="5532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Calibri"/>
              </a:rPr>
              <a:t>scan to open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